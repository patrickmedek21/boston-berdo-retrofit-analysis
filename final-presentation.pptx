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67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2328863"/>
            <a:ext cx="2974276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BOSTON BUILDING EMISSIONS ANALYSIS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00063" y="2755702"/>
            <a:ext cx="4643438" cy="1316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294" b="1" kern="0" spc="-3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BERDO Retrofit Prioritization Dashboard</a:t>
            </a:r>
            <a:endParaRPr lang="en-US" sz="3294" dirty="0"/>
          </a:p>
        </p:txBody>
      </p:sp>
      <p:sp>
        <p:nvSpPr>
          <p:cNvPr id="6" name="Text 2"/>
          <p:cNvSpPr/>
          <p:nvPr/>
        </p:nvSpPr>
        <p:spPr>
          <a:xfrm>
            <a:off x="497202" y="4072384"/>
            <a:ext cx="4429125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focused visual story about where Boston should retrofit first — and why.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23529" y="2328863"/>
            <a:ext cx="3420405" cy="220641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423529" y="2328863"/>
            <a:ext cx="3420405" cy="7144"/>
          </a:xfrm>
          <a:prstGeom prst="rect">
            <a:avLst/>
          </a:prstGeom>
          <a:solidFill>
            <a:srgbClr val="C9D5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423529" y="2494357"/>
            <a:ext cx="468846" cy="158185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COURSE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323642" y="2443163"/>
            <a:ext cx="2520293" cy="405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MISM6210 - Info Visual/Dashboard Business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35551" y="2988687"/>
            <a:ext cx="444802" cy="158185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4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323642" y="2977493"/>
            <a:ext cx="2520293" cy="60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Alejandro Calalpa Garcia, Patrick Medek, Seifallah Bouslama, Syed Sajjaed, Sairaj V Khandare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435551" y="4051689"/>
            <a:ext cx="3420405" cy="23031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kern="0" spc="1" dirty="0">
                <a:solidFill>
                  <a:srgbClr val="6A7F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 VISUALS DASHBOARD DESIGN FINAL PROJECT</a:t>
            </a:r>
            <a:endParaRPr lang="en-US" sz="1200" dirty="0"/>
          </a:p>
        </p:txBody>
      </p:sp>
      <p:pic>
        <p:nvPicPr>
          <p:cNvPr id="16" name="Picture 15" descr="Boston Building Emissions Reduction and Disclosure Ordinance">
            <a:extLst>
              <a:ext uri="{FF2B5EF4-FFF2-40B4-BE49-F238E27FC236}">
                <a16:creationId xmlns:a16="http://schemas.microsoft.com/office/drawing/2014/main" id="{785D492F-9630-1447-52B2-BAC4884C3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530" y="121447"/>
            <a:ext cx="5724940" cy="1871271"/>
          </a:xfrm>
          <a:prstGeom prst="rect">
            <a:avLst/>
          </a:prstGeom>
        </p:spPr>
      </p:pic>
      <p:pic>
        <p:nvPicPr>
          <p:cNvPr id="18" name="Picture 17" descr="A black background with black text&#10;&#10;AI-generated content may be incorrect.">
            <a:extLst>
              <a:ext uri="{FF2B5EF4-FFF2-40B4-BE49-F238E27FC236}">
                <a16:creationId xmlns:a16="http://schemas.microsoft.com/office/drawing/2014/main" id="{1F681C51-D5AC-145A-599A-32BD11CA6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13071" cy="3740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2900"/>
            <a:ext cx="1921745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THIS PROBLEM MATTERS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0784"/>
            <a:ext cx="4572000" cy="111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755" b="1" kern="0" spc="-2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Boston’s buildings produce 70% of its emissions</a:t>
            </a:r>
            <a:endParaRPr lang="en-US" sz="2755" dirty="0"/>
          </a:p>
        </p:txBody>
      </p:sp>
      <p:sp>
        <p:nvSpPr>
          <p:cNvPr id="5" name="Text 2"/>
          <p:cNvSpPr/>
          <p:nvPr/>
        </p:nvSpPr>
        <p:spPr>
          <a:xfrm>
            <a:off x="457200" y="1786077"/>
            <a:ext cx="4429125" cy="684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BERDO requires 3,271 large buildings to cut greenhouse gas emissions, turning retrofit prioritization into a city-scale decision problem.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57200" y="2741581"/>
            <a:ext cx="1450460" cy="3088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331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3,271</a:t>
            </a:r>
            <a:endParaRPr lang="en-US" sz="2331" dirty="0"/>
          </a:p>
        </p:txBody>
      </p:sp>
      <p:sp>
        <p:nvSpPr>
          <p:cNvPr id="7" name="Text 4"/>
          <p:cNvSpPr/>
          <p:nvPr/>
        </p:nvSpPr>
        <p:spPr>
          <a:xfrm>
            <a:off x="457200" y="3107615"/>
            <a:ext cx="1214438" cy="35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96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buildings in scope for BERDO action</a:t>
            </a:r>
            <a:endParaRPr lang="en-US" sz="996" dirty="0"/>
          </a:p>
        </p:txBody>
      </p:sp>
      <p:sp>
        <p:nvSpPr>
          <p:cNvPr id="8" name="Text 5"/>
          <p:cNvSpPr/>
          <p:nvPr/>
        </p:nvSpPr>
        <p:spPr>
          <a:xfrm>
            <a:off x="2036248" y="2741581"/>
            <a:ext cx="1450460" cy="3088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331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$763M</a:t>
            </a:r>
            <a:endParaRPr lang="en-US" sz="2331" dirty="0"/>
          </a:p>
        </p:txBody>
      </p:sp>
      <p:sp>
        <p:nvSpPr>
          <p:cNvPr id="9" name="Text 6"/>
          <p:cNvSpPr/>
          <p:nvPr/>
        </p:nvSpPr>
        <p:spPr>
          <a:xfrm>
            <a:off x="2036248" y="3107615"/>
            <a:ext cx="1214438" cy="529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96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energy spend across the covered portfolio</a:t>
            </a:r>
            <a:endParaRPr lang="en-US" sz="996" dirty="0"/>
          </a:p>
        </p:txBody>
      </p:sp>
      <p:sp>
        <p:nvSpPr>
          <p:cNvPr id="10" name="Text 7"/>
          <p:cNvSpPr/>
          <p:nvPr/>
        </p:nvSpPr>
        <p:spPr>
          <a:xfrm>
            <a:off x="3615296" y="2741581"/>
            <a:ext cx="1450460" cy="3088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331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75%</a:t>
            </a:r>
            <a:endParaRPr lang="en-US" sz="2331" dirty="0"/>
          </a:p>
        </p:txBody>
      </p:sp>
      <p:sp>
        <p:nvSpPr>
          <p:cNvPr id="11" name="Text 8"/>
          <p:cNvSpPr/>
          <p:nvPr/>
        </p:nvSpPr>
        <p:spPr>
          <a:xfrm>
            <a:off x="3615296" y="3107615"/>
            <a:ext cx="1214438" cy="529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96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already past the compliance deadline</a:t>
            </a:r>
            <a:endParaRPr lang="en-US" sz="996" dirty="0"/>
          </a:p>
        </p:txBody>
      </p:sp>
      <p:sp>
        <p:nvSpPr>
          <p:cNvPr id="12" name="Text 9"/>
          <p:cNvSpPr/>
          <p:nvPr/>
        </p:nvSpPr>
        <p:spPr>
          <a:xfrm>
            <a:off x="457200" y="3841719"/>
            <a:ext cx="4608556" cy="97182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49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Research question: Which buildings should be retrofitted first for the greatest impact?</a:t>
            </a:r>
            <a:endParaRPr lang="en-US" sz="1649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635" y="400050"/>
            <a:ext cx="3571875" cy="44291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43510" y="4443413"/>
            <a:ext cx="1785938" cy="317897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443510" y="4443413"/>
            <a:ext cx="1785938" cy="28575"/>
          </a:xfrm>
          <a:prstGeom prst="rect">
            <a:avLst/>
          </a:prstGeom>
          <a:solidFill>
            <a:srgbClr val="F29F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443510" y="4443413"/>
            <a:ext cx="1785938" cy="31789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A7F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BOSTON BUILDING STOCK AND RETROFIT CONTEXT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85763"/>
            <a:ext cx="1536254" cy="122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RANKING WORKS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85775" y="612577"/>
            <a:ext cx="442912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331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clean dataset made the prioritization credible</a:t>
            </a:r>
            <a:endParaRPr lang="en-US" sz="2331" dirty="0"/>
          </a:p>
        </p:txBody>
      </p:sp>
      <p:sp>
        <p:nvSpPr>
          <p:cNvPr id="5" name="Text 2"/>
          <p:cNvSpPr/>
          <p:nvPr/>
        </p:nvSpPr>
        <p:spPr>
          <a:xfrm>
            <a:off x="485775" y="1369814"/>
            <a:ext cx="4429125" cy="689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analysis moved from raw BERDO records to a filtered, scored, and validated shortlist of retrofit priorities.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397243" y="607219"/>
            <a:ext cx="1086966" cy="29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26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3,271</a:t>
            </a:r>
            <a:endParaRPr lang="en-US" sz="2226" dirty="0"/>
          </a:p>
        </p:txBody>
      </p:sp>
      <p:sp>
        <p:nvSpPr>
          <p:cNvPr id="7" name="Text 4"/>
          <p:cNvSpPr/>
          <p:nvPr/>
        </p:nvSpPr>
        <p:spPr>
          <a:xfrm>
            <a:off x="5397243" y="962955"/>
            <a:ext cx="107156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buildings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569934" y="607219"/>
            <a:ext cx="1086994" cy="29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26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29</a:t>
            </a:r>
            <a:endParaRPr lang="en-US" sz="2226" dirty="0"/>
          </a:p>
        </p:txBody>
      </p:sp>
      <p:sp>
        <p:nvSpPr>
          <p:cNvPr id="9" name="Text 6"/>
          <p:cNvSpPr/>
          <p:nvPr/>
        </p:nvSpPr>
        <p:spPr>
          <a:xfrm>
            <a:off x="6569934" y="962955"/>
            <a:ext cx="107156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attributes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7742653" y="607219"/>
            <a:ext cx="1086994" cy="29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26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2226" dirty="0"/>
          </a:p>
        </p:txBody>
      </p:sp>
      <p:sp>
        <p:nvSpPr>
          <p:cNvPr id="11" name="Text 8"/>
          <p:cNvSpPr/>
          <p:nvPr/>
        </p:nvSpPr>
        <p:spPr>
          <a:xfrm>
            <a:off x="7742653" y="962955"/>
            <a:ext cx="107156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null values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85775" y="2480444"/>
            <a:ext cx="366382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5775" y="2669753"/>
            <a:ext cx="1643063" cy="44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 the opportunity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485775" y="3189238"/>
            <a:ext cx="1643063" cy="1012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4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EUI, emissions, floor area, and Energy Star performance shape the Opportunity Score.</a:t>
            </a:r>
            <a:endParaRPr lang="en-US" sz="1104" dirty="0"/>
          </a:p>
        </p:txBody>
      </p:sp>
      <p:sp>
        <p:nvSpPr>
          <p:cNvPr id="15" name="Text 12"/>
          <p:cNvSpPr/>
          <p:nvPr/>
        </p:nvSpPr>
        <p:spPr>
          <a:xfrm>
            <a:off x="2564606" y="2480444"/>
            <a:ext cx="366382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64606" y="2669753"/>
            <a:ext cx="1643063" cy="44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Sort the portfolio</a:t>
            </a:r>
            <a:endParaRPr lang="en-US" sz="1486" dirty="0"/>
          </a:p>
        </p:txBody>
      </p:sp>
      <p:sp>
        <p:nvSpPr>
          <p:cNvPr id="17" name="Text 14"/>
          <p:cNvSpPr/>
          <p:nvPr/>
        </p:nvSpPr>
        <p:spPr>
          <a:xfrm>
            <a:off x="2564606" y="3189238"/>
            <a:ext cx="1643063" cy="8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4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Buildings are grouped into Tier 1, Tier 2, and Tier 3 for action sequencing.</a:t>
            </a:r>
            <a:endParaRPr lang="en-US" sz="1104" dirty="0"/>
          </a:p>
        </p:txBody>
      </p:sp>
      <p:sp>
        <p:nvSpPr>
          <p:cNvPr id="18" name="Text 15"/>
          <p:cNvSpPr/>
          <p:nvPr/>
        </p:nvSpPr>
        <p:spPr>
          <a:xfrm>
            <a:off x="4643438" y="2480444"/>
            <a:ext cx="366382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43438" y="2669753"/>
            <a:ext cx="1643063" cy="44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Validate the pattern</a:t>
            </a:r>
            <a:endParaRPr lang="en-US" sz="1486" dirty="0"/>
          </a:p>
        </p:txBody>
      </p:sp>
      <p:sp>
        <p:nvSpPr>
          <p:cNvPr id="20" name="Text 17"/>
          <p:cNvSpPr/>
          <p:nvPr/>
        </p:nvSpPr>
        <p:spPr>
          <a:xfrm>
            <a:off x="4643438" y="3189238"/>
            <a:ext cx="1643063" cy="8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4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K-means clustering checks that the ranking matches the structure of the data.</a:t>
            </a:r>
            <a:endParaRPr lang="en-US" sz="1104" dirty="0"/>
          </a:p>
        </p:txBody>
      </p:sp>
      <p:sp>
        <p:nvSpPr>
          <p:cNvPr id="21" name="Text 18"/>
          <p:cNvSpPr/>
          <p:nvPr/>
        </p:nvSpPr>
        <p:spPr>
          <a:xfrm>
            <a:off x="6722269" y="2480444"/>
            <a:ext cx="366382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04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22269" y="2669753"/>
            <a:ext cx="1643063" cy="44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it into dashboards</a:t>
            </a:r>
            <a:endParaRPr lang="en-US" sz="1486" dirty="0"/>
          </a:p>
        </p:txBody>
      </p:sp>
      <p:sp>
        <p:nvSpPr>
          <p:cNvPr id="23" name="Text 20"/>
          <p:cNvSpPr/>
          <p:nvPr/>
        </p:nvSpPr>
        <p:spPr>
          <a:xfrm>
            <a:off x="6722269" y="3189238"/>
            <a:ext cx="1643063" cy="8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4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dashboard views make the priority logic visible and decision-ready.</a:t>
            </a:r>
            <a:endParaRPr lang="en-US" sz="1104" dirty="0"/>
          </a:p>
        </p:txBody>
      </p:sp>
      <p:sp>
        <p:nvSpPr>
          <p:cNvPr id="24" name="Text 21"/>
          <p:cNvSpPr/>
          <p:nvPr/>
        </p:nvSpPr>
        <p:spPr>
          <a:xfrm>
            <a:off x="485775" y="4330368"/>
            <a:ext cx="7286625" cy="319181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Result: a clear, explainable system for identifying where Boston should retrofit first.</a:t>
            </a:r>
            <a:endParaRPr lang="en-US" sz="12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85775"/>
            <a:ext cx="688907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00050" y="703659"/>
            <a:ext cx="1571625" cy="529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808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City-Wide Energy Pulse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00050" y="1347713"/>
            <a:ext cx="1571625" cy="2382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Tree map to show total emissions vs. energy intensity in one view.</a:t>
            </a:r>
          </a:p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Donut for the 10/20/70 tier split.</a:t>
            </a:r>
          </a:p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Heatmap to cross-reference compliance risk by sector. </a:t>
            </a:r>
          </a:p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Stacked bar to reveal compliance urgency over time.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2574010" y="342900"/>
            <a:ext cx="6372225" cy="4214813"/>
          </a:xfrm>
          <a:prstGeom prst="rect">
            <a:avLst/>
          </a:prstGeom>
          <a:solidFill>
            <a:srgbClr val="F1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574010" y="342900"/>
            <a:ext cx="6372225" cy="42863"/>
          </a:xfrm>
          <a:prstGeom prst="rect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574010" y="4257675"/>
            <a:ext cx="6372225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A7F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INSERT DASHBOARD SCREENSHOT HERE</a:t>
            </a:r>
            <a:endParaRPr lang="en-US" sz="62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2CB0BC-DD19-6136-6B07-8023F2FA6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758" y="435769"/>
            <a:ext cx="6492727" cy="42719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85763"/>
            <a:ext cx="528350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INSIGHT 01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85775" y="612577"/>
            <a:ext cx="54292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331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Size alone picks the wrong buildings</a:t>
            </a:r>
            <a:endParaRPr lang="en-US" sz="2331" dirty="0"/>
          </a:p>
        </p:txBody>
      </p:sp>
      <p:sp>
        <p:nvSpPr>
          <p:cNvPr id="5" name="Text 2"/>
          <p:cNvSpPr/>
          <p:nvPr/>
        </p:nvSpPr>
        <p:spPr>
          <a:xfrm>
            <a:off x="485775" y="1055489"/>
            <a:ext cx="6572250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Absolute emissions show scale. They do not automatically show where the most wasteful or urgent retrofit opportunities sit.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85775" y="1864965"/>
            <a:ext cx="552715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85775" y="2068562"/>
            <a:ext cx="2574122" cy="376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62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358,759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485775" y="2516023"/>
            <a:ext cx="1785938" cy="6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“Other” sector dominates total emissions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485775" y="3259531"/>
            <a:ext cx="2143125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4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 makes it big — but not necessarily the smartest first target.</a:t>
            </a:r>
            <a:endParaRPr lang="en-US" sz="1104" dirty="0"/>
          </a:p>
        </p:txBody>
      </p:sp>
      <p:sp>
        <p:nvSpPr>
          <p:cNvPr id="10" name="Text 7"/>
          <p:cNvSpPr/>
          <p:nvPr/>
        </p:nvSpPr>
        <p:spPr>
          <a:xfrm>
            <a:off x="3338503" y="1864965"/>
            <a:ext cx="552715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38503" y="2068562"/>
            <a:ext cx="2445534" cy="376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62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222.5</a:t>
            </a:r>
            <a:endParaRPr lang="en-US" sz="2862" dirty="0"/>
          </a:p>
        </p:txBody>
      </p:sp>
      <p:sp>
        <p:nvSpPr>
          <p:cNvPr id="12" name="Text 9"/>
          <p:cNvSpPr/>
          <p:nvPr/>
        </p:nvSpPr>
        <p:spPr>
          <a:xfrm>
            <a:off x="3338503" y="2516023"/>
            <a:ext cx="1785938" cy="6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Laboratories expose the real waste signal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3338503" y="3188094"/>
            <a:ext cx="2143125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4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Energy intensity shows that some smaller sectors are far more inefficient.</a:t>
            </a:r>
            <a:endParaRPr lang="en-US" sz="1104" dirty="0"/>
          </a:p>
        </p:txBody>
      </p:sp>
      <p:sp>
        <p:nvSpPr>
          <p:cNvPr id="14" name="Text 11"/>
          <p:cNvSpPr/>
          <p:nvPr/>
        </p:nvSpPr>
        <p:spPr>
          <a:xfrm>
            <a:off x="6062644" y="1864965"/>
            <a:ext cx="552715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62644" y="2068562"/>
            <a:ext cx="2452706" cy="376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62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2862" dirty="0"/>
          </a:p>
        </p:txBody>
      </p:sp>
      <p:sp>
        <p:nvSpPr>
          <p:cNvPr id="16" name="Text 13"/>
          <p:cNvSpPr/>
          <p:nvPr/>
        </p:nvSpPr>
        <p:spPr>
          <a:xfrm>
            <a:off x="6062644" y="2516023"/>
            <a:ext cx="1785938" cy="44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Tier 1 buildings are already late</a:t>
            </a:r>
            <a:endParaRPr lang="en-US" sz="1486" dirty="0"/>
          </a:p>
        </p:txBody>
      </p:sp>
      <p:sp>
        <p:nvSpPr>
          <p:cNvPr id="17" name="Text 14"/>
          <p:cNvSpPr/>
          <p:nvPr/>
        </p:nvSpPr>
        <p:spPr>
          <a:xfrm>
            <a:off x="6062644" y="3135856"/>
            <a:ext cx="2143125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4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highest-priority group is not theoretical — it is already in compliance trouble.</a:t>
            </a:r>
            <a:endParaRPr lang="en-US" sz="1104" dirty="0"/>
          </a:p>
        </p:txBody>
      </p:sp>
      <p:sp>
        <p:nvSpPr>
          <p:cNvPr id="18" name="Text 15"/>
          <p:cNvSpPr/>
          <p:nvPr/>
        </p:nvSpPr>
        <p:spPr>
          <a:xfrm>
            <a:off x="485775" y="4083993"/>
            <a:ext cx="7715250" cy="714375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95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Boston should retrofit where </a:t>
            </a:r>
            <a:r>
              <a:rPr lang="en-US" sz="1499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intensity, urgency, and savings potential</a:t>
            </a:r>
            <a:r>
              <a:rPr lang="en-US" sz="1595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intersect — not simply where buildings are largest.</a:t>
            </a:r>
            <a:endParaRPr lang="en-US" sz="159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85775"/>
            <a:ext cx="688907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00050" y="703659"/>
            <a:ext cx="1571625" cy="794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808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Sector Energy Benchmarking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00050" y="1612590"/>
            <a:ext cx="1571625" cy="129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Lollipop chart to rank sectors with less visual clutter than bar charts.</a:t>
            </a:r>
          </a:p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Box plot to expose the outliers that sector averages hide.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2574010" y="342900"/>
            <a:ext cx="6372225" cy="4214813"/>
          </a:xfrm>
          <a:prstGeom prst="rect">
            <a:avLst/>
          </a:prstGeom>
          <a:solidFill>
            <a:srgbClr val="F1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574010" y="342900"/>
            <a:ext cx="6372225" cy="42863"/>
          </a:xfrm>
          <a:prstGeom prst="rect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574010" y="4257675"/>
            <a:ext cx="6372225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A7F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INSERT DASHBOARD SCREENSHOT HERE</a:t>
            </a:r>
            <a:endParaRPr lang="en-US" sz="62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7D19B2-C588-5EA1-D938-6EECD0D95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009" y="409066"/>
            <a:ext cx="6372225" cy="45566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96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85763"/>
            <a:ext cx="528350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INSIGHT 02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85775" y="612577"/>
            <a:ext cx="5704010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331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Averages hide the buildings that matter most</a:t>
            </a:r>
            <a:endParaRPr lang="en-US" sz="2331" dirty="0"/>
          </a:p>
        </p:txBody>
      </p:sp>
      <p:sp>
        <p:nvSpPr>
          <p:cNvPr id="5" name="Text 2"/>
          <p:cNvSpPr/>
          <p:nvPr/>
        </p:nvSpPr>
        <p:spPr>
          <a:xfrm>
            <a:off x="485775" y="1118486"/>
            <a:ext cx="6429375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Sector benchmarking is useful, but Boston still needs to zoom into the specific buildings that sit far beyond the norm.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85775" y="2057846"/>
            <a:ext cx="2533436" cy="4994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938" b="1" kern="0" spc="-4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77.6</a:t>
            </a:r>
            <a:endParaRPr lang="en-US" sz="3938" dirty="0"/>
          </a:p>
        </p:txBody>
      </p:sp>
      <p:sp>
        <p:nvSpPr>
          <p:cNvPr id="7" name="Text 4"/>
          <p:cNvSpPr/>
          <p:nvPr/>
        </p:nvSpPr>
        <p:spPr>
          <a:xfrm>
            <a:off x="485775" y="2628760"/>
            <a:ext cx="1183081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PORTFOLIO BENCHMARK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85775" y="2852003"/>
            <a:ext cx="1857375" cy="114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is the citywide reference point — but it does not show the extreme tail of underperformance.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3190661" y="2057846"/>
            <a:ext cx="1804467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62" b="1" kern="0" spc="-2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~3x</a:t>
            </a:r>
            <a:endParaRPr lang="en-US" sz="2862" dirty="0"/>
          </a:p>
        </p:txBody>
      </p:sp>
      <p:sp>
        <p:nvSpPr>
          <p:cNvPr id="10" name="Text 7"/>
          <p:cNvSpPr/>
          <p:nvPr/>
        </p:nvSpPr>
        <p:spPr>
          <a:xfrm>
            <a:off x="5123715" y="2114996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Supermarkets and laboratories sit at nearly three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3715" y="2365028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times the benchmark.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123715" y="2615059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They are structurally high-intensity sectors and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123715" y="2865090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immediate candidates for scrutiny.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90661" y="3329434"/>
            <a:ext cx="1804467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62" b="1" kern="0" spc="-2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450+</a:t>
            </a:r>
            <a:endParaRPr lang="en-US" sz="2862" dirty="0"/>
          </a:p>
        </p:txBody>
      </p:sp>
      <p:sp>
        <p:nvSpPr>
          <p:cNvPr id="15" name="Text 12"/>
          <p:cNvSpPr/>
          <p:nvPr/>
        </p:nvSpPr>
        <p:spPr>
          <a:xfrm>
            <a:off x="5123715" y="3386584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Some multifamily buildings still exceed 450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123715" y="3636615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kBtu/ft².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123715" y="3886646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 means a normal-looking sector average can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123715" y="4136678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still hide major retrofit opportunities.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7092" y="4422873"/>
            <a:ext cx="8209815" cy="402931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Conclusion: Boston should benchmark by sector but prioritize by </a:t>
            </a:r>
            <a:r>
              <a:rPr lang="en-US" sz="1400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building-level outlier performance</a:t>
            </a:r>
            <a:r>
              <a:rPr lang="en-US" sz="1400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85775"/>
            <a:ext cx="688907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00050" y="703659"/>
            <a:ext cx="1571625" cy="1059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808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 Analysis &amp; Energy Profile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00050" y="1877467"/>
            <a:ext cx="1571625" cy="2164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Scatter plot to map two continuous variables (floor area × EUI) at building level — the only chart that can do this. </a:t>
            </a:r>
          </a:p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 stacked bar to compare gas vs. electricity dependency across sectors.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2574010" y="342900"/>
            <a:ext cx="6372225" cy="4214813"/>
          </a:xfrm>
          <a:prstGeom prst="rect">
            <a:avLst/>
          </a:prstGeom>
          <a:solidFill>
            <a:srgbClr val="F1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574010" y="342900"/>
            <a:ext cx="6372225" cy="42863"/>
          </a:xfrm>
          <a:prstGeom prst="rect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574010" y="4257675"/>
            <a:ext cx="6372225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A7F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INSERT DASHBOARD SCREENSHOT HERE</a:t>
            </a:r>
            <a:endParaRPr lang="en-US" sz="62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4EAAE8-B046-C09A-22F9-A1700266E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181" y="462615"/>
            <a:ext cx="6559881" cy="43379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00038"/>
            <a:ext cx="528350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INSIGHT 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85775" y="489347"/>
            <a:ext cx="55721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121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highest-ROI buildings are easy to spot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485775" y="1160859"/>
            <a:ext cx="6715125" cy="19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Extreme intensity, high cost, and fossil dependence point to the clearest retrofit targets.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85775" y="1783761"/>
            <a:ext cx="1047594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BUILDING SIGNAL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85775" y="1958783"/>
            <a:ext cx="4903459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182" b="1" kern="0" spc="-5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667.7</a:t>
            </a:r>
            <a:endParaRPr lang="en-US" sz="5182" dirty="0"/>
          </a:p>
        </p:txBody>
      </p:sp>
      <p:sp>
        <p:nvSpPr>
          <p:cNvPr id="8" name="Text 5"/>
          <p:cNvSpPr/>
          <p:nvPr/>
        </p:nvSpPr>
        <p:spPr>
          <a:xfrm>
            <a:off x="485775" y="2630295"/>
            <a:ext cx="3429000" cy="22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 Gillette Park stands alone.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485775" y="2897181"/>
            <a:ext cx="3714750" cy="38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combines very high energy intensity with about </a:t>
            </a:r>
            <a:r>
              <a:rPr lang="en-US" sz="1200" b="1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$25.4M</a:t>
            </a:r>
            <a:r>
              <a:rPr lang="en-US" sz="120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 annual energy cost.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03534" y="1783761"/>
            <a:ext cx="3268963" cy="26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16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88% / 73% / 58%</a:t>
            </a:r>
            <a:endParaRPr lang="en-US" sz="2016" dirty="0"/>
          </a:p>
        </p:txBody>
      </p:sp>
      <p:sp>
        <p:nvSpPr>
          <p:cNvPr id="11" name="Text 8"/>
          <p:cNvSpPr/>
          <p:nvPr/>
        </p:nvSpPr>
        <p:spPr>
          <a:xfrm>
            <a:off x="5503534" y="2080924"/>
            <a:ext cx="2000250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69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Gas still dominates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5503534" y="2301515"/>
            <a:ext cx="2143125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Manufacturing, Worship, and Multifamily remain heavily gas-dependent.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03534" y="2981009"/>
            <a:ext cx="2000250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69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Action implication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5503534" y="3201600"/>
            <a:ext cx="2143125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Efficiency upgrades should be paired with electrification where gas use is still high.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5774" y="4092532"/>
            <a:ext cx="7868871" cy="32855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Boston should move first on buildings where </a:t>
            </a:r>
            <a:r>
              <a:rPr lang="en-US" sz="1397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waste and decarbonization upside</a:t>
            </a: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are both unusually high.</a:t>
            </a:r>
            <a:endParaRPr lang="en-US" sz="148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85775"/>
            <a:ext cx="688907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00050" y="703659"/>
            <a:ext cx="1571625" cy="794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808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Retrofit Priority Planner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00050" y="1612590"/>
            <a:ext cx="1633229" cy="2164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Symbol map to reveal geographic clustering invisible in tables. </a:t>
            </a:r>
          </a:p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Grouped bar to compare green tech adoption across tiers. </a:t>
            </a:r>
          </a:p>
          <a:p>
            <a:pPr marL="171450" indent="-171450">
              <a:lnSpc>
                <a:spcPts val="1700"/>
              </a:lnSpc>
              <a:buFont typeface="Wingdings" pitchFamily="2" charset="2"/>
              <a:buChar char="§"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Ranked table to give decision-makers specific building names and costs.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2574010" y="342900"/>
            <a:ext cx="6372225" cy="4214813"/>
          </a:xfrm>
          <a:prstGeom prst="rect">
            <a:avLst/>
          </a:prstGeom>
          <a:solidFill>
            <a:srgbClr val="F1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574010" y="342900"/>
            <a:ext cx="6372225" cy="42863"/>
          </a:xfrm>
          <a:prstGeom prst="rect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574010" y="4257675"/>
            <a:ext cx="6372225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A7F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INSERT DASHBOARD SCREENSHOT HERE</a:t>
            </a:r>
            <a:endParaRPr lang="en-US" sz="62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8FBEA6-9658-79F1-E201-EDFFD8F85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044" y="485775"/>
            <a:ext cx="6820139" cy="45198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85763"/>
            <a:ext cx="528350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kern="0" spc="2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INSIGHT 04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85775" y="598289"/>
            <a:ext cx="3595874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331" b="1" kern="0" spc="-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 where density and savings overlap</a:t>
            </a:r>
            <a:endParaRPr lang="en-US" sz="2331" dirty="0"/>
          </a:p>
        </p:txBody>
      </p:sp>
      <p:sp>
        <p:nvSpPr>
          <p:cNvPr id="5" name="Text 2"/>
          <p:cNvSpPr/>
          <p:nvPr/>
        </p:nvSpPr>
        <p:spPr>
          <a:xfrm>
            <a:off x="4253099" y="385763"/>
            <a:ext cx="4000500" cy="869752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planner view reveals not just which buildings matter, but where action can scale fastest and generate the strongest return.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85775" y="1584127"/>
            <a:ext cx="2619356" cy="416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185" b="1" kern="0" spc="-2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48%</a:t>
            </a:r>
            <a:endParaRPr lang="en-US" sz="3185" dirty="0"/>
          </a:p>
        </p:txBody>
      </p:sp>
      <p:sp>
        <p:nvSpPr>
          <p:cNvPr id="7" name="Text 4"/>
          <p:cNvSpPr/>
          <p:nvPr/>
        </p:nvSpPr>
        <p:spPr>
          <a:xfrm>
            <a:off x="485775" y="2071883"/>
            <a:ext cx="1857375" cy="6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Tier 1 buildings cluster in five zip codes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485775" y="2815391"/>
            <a:ext cx="2000250" cy="842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 concentration makes neighborhood-based rollout faster and easier to coordinate.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3262294" y="1584127"/>
            <a:ext cx="2619384" cy="416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185" b="1" kern="0" spc="-2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57%</a:t>
            </a:r>
            <a:endParaRPr lang="en-US" sz="3185" dirty="0"/>
          </a:p>
        </p:txBody>
      </p:sp>
      <p:sp>
        <p:nvSpPr>
          <p:cNvPr id="10" name="Text 7"/>
          <p:cNvSpPr/>
          <p:nvPr/>
        </p:nvSpPr>
        <p:spPr>
          <a:xfrm>
            <a:off x="3262294" y="2071883"/>
            <a:ext cx="1857375" cy="6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Green features can hide deeper inefficiency</a:t>
            </a:r>
            <a:endParaRPr lang="en-US" sz="1486" dirty="0"/>
          </a:p>
        </p:txBody>
      </p:sp>
      <p:sp>
        <p:nvSpPr>
          <p:cNvPr id="11" name="Text 8"/>
          <p:cNvSpPr/>
          <p:nvPr/>
        </p:nvSpPr>
        <p:spPr>
          <a:xfrm>
            <a:off x="3262294" y="2815391"/>
            <a:ext cx="2000250" cy="842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Visible sustainability add-ons do not guarantee that the building is actually performing well.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6038841" y="1584127"/>
            <a:ext cx="2619356" cy="416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185" b="1" kern="0" spc="-2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$121.8M</a:t>
            </a:r>
            <a:endParaRPr lang="en-US" sz="3185" dirty="0"/>
          </a:p>
        </p:txBody>
      </p:sp>
      <p:sp>
        <p:nvSpPr>
          <p:cNvPr id="13" name="Text 10"/>
          <p:cNvSpPr/>
          <p:nvPr/>
        </p:nvSpPr>
        <p:spPr>
          <a:xfrm>
            <a:off x="6038841" y="2071883"/>
            <a:ext cx="1857375" cy="6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86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top 10 already carry huge energy spend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6038841" y="2815391"/>
            <a:ext cx="2000250" cy="842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 concentration points to an estimated </a:t>
            </a:r>
            <a:r>
              <a:rPr lang="en-US" sz="1090" b="1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$40–60M</a:t>
            </a:r>
            <a:r>
              <a:rPr lang="en-US" sz="1159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annual savings opportunity.</a:t>
            </a:r>
            <a:endParaRPr lang="en-US" sz="1159" dirty="0"/>
          </a:p>
        </p:txBody>
      </p:sp>
      <p:sp>
        <p:nvSpPr>
          <p:cNvPr id="15" name="Text 12"/>
          <p:cNvSpPr/>
          <p:nvPr/>
        </p:nvSpPr>
        <p:spPr>
          <a:xfrm>
            <a:off x="485775" y="3898702"/>
            <a:ext cx="7715250" cy="678656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95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Boston should start where </a:t>
            </a:r>
            <a:r>
              <a:rPr lang="en-US" sz="1499" b="1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priority density, implementation ease, and savings potential</a:t>
            </a:r>
            <a:r>
              <a:rPr lang="en-US" sz="1595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already reinforce one another.</a:t>
            </a:r>
            <a:endParaRPr lang="en-US" sz="159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98349" y="3091990"/>
            <a:ext cx="2233175" cy="551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000" b="1" kern="0" spc="-4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57226" y="981914"/>
            <a:ext cx="5115422" cy="1387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1400" dirty="0">
                <a:solidFill>
                  <a:srgbClr val="4762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analysis shows that effective retrofit prioritization requires looking beyond totals and averages. Building-level intensity, compliance urgency, energy source dependency, and geographic concentration together reveal where limited resources will have the greatest impact.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7225" y="4541025"/>
            <a:ext cx="468846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COURSE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7225" y="4716047"/>
            <a:ext cx="3000375" cy="20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MISM6210 - Info Visual/Dashboard Business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29100" y="4541025"/>
            <a:ext cx="846322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kern="0" spc="1" dirty="0">
                <a:solidFill>
                  <a:srgbClr val="2E8C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29100" y="4716047"/>
            <a:ext cx="449610" cy="204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1530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4</a:t>
            </a:r>
            <a:endParaRPr lang="en-US" sz="1200" dirty="0"/>
          </a:p>
        </p:txBody>
      </p:sp>
      <p:pic>
        <p:nvPicPr>
          <p:cNvPr id="3" name="Picture 2" descr="BERDO Regulations Development | Boston.gov">
            <a:extLst>
              <a:ext uri="{FF2B5EF4-FFF2-40B4-BE49-F238E27FC236}">
                <a16:creationId xmlns:a16="http://schemas.microsoft.com/office/drawing/2014/main" id="{8001514E-1303-3DE7-5932-399DD99A9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977" y="1187114"/>
            <a:ext cx="2819037" cy="27692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942</Words>
  <Application>Microsoft Macintosh PowerPoint</Application>
  <PresentationFormat>On-screen Show (16:9)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Space Grotesk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Sairaj Vitthal Khandare</cp:lastModifiedBy>
  <cp:revision>3</cp:revision>
  <dcterms:created xsi:type="dcterms:W3CDTF">2026-04-15T22:03:02Z</dcterms:created>
  <dcterms:modified xsi:type="dcterms:W3CDTF">2026-04-16T03:22:54Z</dcterms:modified>
</cp:coreProperties>
</file>